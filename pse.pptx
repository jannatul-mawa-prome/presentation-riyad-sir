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84" autoAdjust="0"/>
    <p:restoredTop sz="94660"/>
  </p:normalViewPr>
  <p:slideViewPr>
    <p:cSldViewPr snapToGrid="0">
      <p:cViewPr varScale="1">
        <p:scale>
          <a:sx n="68" d="100"/>
          <a:sy n="68" d="100"/>
        </p:scale>
        <p:origin x="96" y="4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DB03-DB0F-46F1-888B-186DDA8817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12C7D7-3AEE-4C83-A57F-355066295D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FA46D4-D9F7-48E8-8B60-D5066F74584F}"/>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5" name="Footer Placeholder 4">
            <a:extLst>
              <a:ext uri="{FF2B5EF4-FFF2-40B4-BE49-F238E27FC236}">
                <a16:creationId xmlns:a16="http://schemas.microsoft.com/office/drawing/2014/main" id="{956F5F2F-B464-4F32-B91D-7688925C6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428577-9944-44AE-A7EC-C6C1527B9357}"/>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2296179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2B4C4-0530-45D9-92D4-4891C177B5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F4C2E-687A-41EC-87B6-CF56E2DDE9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540C41-48CF-4C93-811B-6BE737BBACFA}"/>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5" name="Footer Placeholder 4">
            <a:extLst>
              <a:ext uri="{FF2B5EF4-FFF2-40B4-BE49-F238E27FC236}">
                <a16:creationId xmlns:a16="http://schemas.microsoft.com/office/drawing/2014/main" id="{6E7AA8E7-F9A7-4F3E-8BBE-5E20412343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6A649-B049-4123-BF16-1DFC9F4D2A62}"/>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190567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5728B-7A65-4676-BE4E-EEAD97F3EF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6133FF-F0A1-404C-982C-EA969E222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0F07C8-C23B-4A63-9CFD-4C74FB198A06}"/>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5" name="Footer Placeholder 4">
            <a:extLst>
              <a:ext uri="{FF2B5EF4-FFF2-40B4-BE49-F238E27FC236}">
                <a16:creationId xmlns:a16="http://schemas.microsoft.com/office/drawing/2014/main" id="{B4E15BC6-E30C-4159-BCE6-7BE5A69561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8C18E-3373-40F7-BB96-730B7B730259}"/>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831934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9D74D-9DA2-4B82-AD32-88FBE6352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B65C66-A771-4FF9-95B9-18A0760A78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41E7B4-69B6-4528-8228-6069204C53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0052B6-01CE-4B80-9D85-21B527867D46}"/>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6" name="Footer Placeholder 5">
            <a:extLst>
              <a:ext uri="{FF2B5EF4-FFF2-40B4-BE49-F238E27FC236}">
                <a16:creationId xmlns:a16="http://schemas.microsoft.com/office/drawing/2014/main" id="{26D025F6-9AC1-4745-94EC-164B0406FE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568184-08A0-4CC9-BF8F-02DE9380004A}"/>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247812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D17FB-D8F1-4212-AEF1-9FBF6E2EF1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2721A1-CF1A-4CCE-8813-03EF28F73D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E63750-A317-4465-99BD-0601A55730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015B09-F8C6-4D3D-8FD1-ADD3A027CA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506DA4-8EBB-48C2-82BD-EC75CBD2A5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26B676-7B82-4E6D-A13E-BE7467B475C9}"/>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8" name="Footer Placeholder 7">
            <a:extLst>
              <a:ext uri="{FF2B5EF4-FFF2-40B4-BE49-F238E27FC236}">
                <a16:creationId xmlns:a16="http://schemas.microsoft.com/office/drawing/2014/main" id="{C956FC8B-AE92-4566-AB5F-F961DC7A9A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2AADEA-79BA-4C51-8EED-699190696CC4}"/>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3966837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C6D14-7472-4BF0-9091-0FC11371D4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4E64C0-DB03-4BDB-9634-8F70E6D1E3E6}"/>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4" name="Footer Placeholder 3">
            <a:extLst>
              <a:ext uri="{FF2B5EF4-FFF2-40B4-BE49-F238E27FC236}">
                <a16:creationId xmlns:a16="http://schemas.microsoft.com/office/drawing/2014/main" id="{A10F678D-6109-4118-98FF-10D82EC11C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AA3FAE-1C9F-4510-8B22-53F05525C228}"/>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419183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3DBEAE-8CFB-48F1-BBE1-0BC3CC96FA20}"/>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3" name="Footer Placeholder 2">
            <a:extLst>
              <a:ext uri="{FF2B5EF4-FFF2-40B4-BE49-F238E27FC236}">
                <a16:creationId xmlns:a16="http://schemas.microsoft.com/office/drawing/2014/main" id="{4F0F0ECB-CACA-403C-B571-F0127AD4E4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FE511D-3C18-4A01-97B8-7A59FC58394F}"/>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1757012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50F5-72B8-4384-BC70-73005A61AE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0F7863-A1B6-4F8E-A49F-A9EB8D0828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957389-AAAB-4FCB-9F20-3CE438702C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4CD0B-0FCD-4816-BB77-5595C96309D9}"/>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6" name="Footer Placeholder 5">
            <a:extLst>
              <a:ext uri="{FF2B5EF4-FFF2-40B4-BE49-F238E27FC236}">
                <a16:creationId xmlns:a16="http://schemas.microsoft.com/office/drawing/2014/main" id="{FA44DD04-003C-46DF-B9C0-CF2AC5013A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57ADE4-FFA1-41F5-A25E-4C08F9E3FD8B}"/>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512420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ABCB8-1501-4662-A882-5C1D6E95E6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7E6075-9D7E-4B76-8905-25341B3362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FBC9F9-C9F9-4A65-91C5-547EB81E57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48D56E-AE56-4E2F-9EE5-767295BB8F4B}"/>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6" name="Footer Placeholder 5">
            <a:extLst>
              <a:ext uri="{FF2B5EF4-FFF2-40B4-BE49-F238E27FC236}">
                <a16:creationId xmlns:a16="http://schemas.microsoft.com/office/drawing/2014/main" id="{C95576F3-B4C6-40AC-BD98-21C8C5E7BC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FAAAE9-616B-4571-817A-B36D18F2E3E7}"/>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2590606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B11C4-3417-429B-BF04-2ECDDB0FC9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C45D6C-F8DC-41EA-97E3-1A4B449F50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2607D7-A659-49C5-8D99-375BA64E3715}"/>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5" name="Footer Placeholder 4">
            <a:extLst>
              <a:ext uri="{FF2B5EF4-FFF2-40B4-BE49-F238E27FC236}">
                <a16:creationId xmlns:a16="http://schemas.microsoft.com/office/drawing/2014/main" id="{088ECB01-3214-466D-8EC5-2D961A0FA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B36F0-1242-4139-A4E6-E7866F9B2336}"/>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208312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DDD8D5-8B87-4D56-BCBB-C75010B19C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1F4E67-6B4A-45E0-A42E-A10D95600BD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58132-7BC3-48D6-A47B-A65443247772}"/>
              </a:ext>
            </a:extLst>
          </p:cNvPr>
          <p:cNvSpPr>
            <a:spLocks noGrp="1"/>
          </p:cNvSpPr>
          <p:nvPr>
            <p:ph type="dt" sz="half" idx="10"/>
          </p:nvPr>
        </p:nvSpPr>
        <p:spPr/>
        <p:txBody>
          <a:bodyPr/>
          <a:lstStyle/>
          <a:p>
            <a:fld id="{6D1E5AFF-AA57-4ABD-BD70-56E347D8CD3A}" type="datetimeFigureOut">
              <a:rPr lang="en-US" smtClean="0"/>
              <a:t>2/18/2020</a:t>
            </a:fld>
            <a:endParaRPr lang="en-US"/>
          </a:p>
        </p:txBody>
      </p:sp>
      <p:sp>
        <p:nvSpPr>
          <p:cNvPr id="5" name="Footer Placeholder 4">
            <a:extLst>
              <a:ext uri="{FF2B5EF4-FFF2-40B4-BE49-F238E27FC236}">
                <a16:creationId xmlns:a16="http://schemas.microsoft.com/office/drawing/2014/main" id="{A51BB579-D21D-48D7-8B6D-1FDFDA771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8438AC-0701-4998-A6B2-9C854B7FB930}"/>
              </a:ext>
            </a:extLst>
          </p:cNvPr>
          <p:cNvSpPr>
            <a:spLocks noGrp="1"/>
          </p:cNvSpPr>
          <p:nvPr>
            <p:ph type="sldNum" sz="quarter" idx="12"/>
          </p:nvPr>
        </p:nvSpPr>
        <p:spPr/>
        <p:txBody>
          <a:bodyPr/>
          <a:lstStyle/>
          <a:p>
            <a:fld id="{754211AE-B7B9-46A5-A549-C548E3F7AFD3}" type="slidenum">
              <a:rPr lang="en-US" smtClean="0"/>
              <a:t>‹#›</a:t>
            </a:fld>
            <a:endParaRPr lang="en-US"/>
          </a:p>
        </p:txBody>
      </p:sp>
    </p:spTree>
    <p:extLst>
      <p:ext uri="{BB962C8B-B14F-4D97-AF65-F5344CB8AC3E}">
        <p14:creationId xmlns:p14="http://schemas.microsoft.com/office/powerpoint/2010/main" val="1592615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0B2DF8-9452-456D-8F31-9DED95686F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72353B-96E1-4CF1-893F-282E610A27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3FD0F1-43B9-4853-B8F1-8B9B40D72E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E5AFF-AA57-4ABD-BD70-56E347D8CD3A}" type="datetimeFigureOut">
              <a:rPr lang="en-US" smtClean="0"/>
              <a:t>2/18/2020</a:t>
            </a:fld>
            <a:endParaRPr lang="en-US"/>
          </a:p>
        </p:txBody>
      </p:sp>
      <p:sp>
        <p:nvSpPr>
          <p:cNvPr id="5" name="Footer Placeholder 4">
            <a:extLst>
              <a:ext uri="{FF2B5EF4-FFF2-40B4-BE49-F238E27FC236}">
                <a16:creationId xmlns:a16="http://schemas.microsoft.com/office/drawing/2014/main" id="{54A7E9E8-24B4-4261-B64C-6DAF4DD528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10CCFC-967C-439D-B7D0-C748AD16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211AE-B7B9-46A5-A549-C548E3F7AFD3}" type="slidenum">
              <a:rPr lang="en-US" smtClean="0"/>
              <a:t>‹#›</a:t>
            </a:fld>
            <a:endParaRPr lang="en-US"/>
          </a:p>
        </p:txBody>
      </p:sp>
    </p:spTree>
    <p:extLst>
      <p:ext uri="{BB962C8B-B14F-4D97-AF65-F5344CB8AC3E}">
        <p14:creationId xmlns:p14="http://schemas.microsoft.com/office/powerpoint/2010/main" val="2969471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72C20-D78A-40D2-BF62-5D5430387FB0}"/>
              </a:ext>
            </a:extLst>
          </p:cNvPr>
          <p:cNvSpPr>
            <a:spLocks noGrp="1"/>
          </p:cNvSpPr>
          <p:nvPr>
            <p:ph type="ctrTitle"/>
          </p:nvPr>
        </p:nvSpPr>
        <p:spPr>
          <a:xfrm>
            <a:off x="882334" y="1532486"/>
            <a:ext cx="9357524" cy="1983543"/>
          </a:xfrm>
          <a:effectLst>
            <a:glow>
              <a:schemeClr val="tx2">
                <a:lumMod val="75000"/>
              </a:schemeClr>
            </a:glow>
            <a:outerShdw blurRad="355600" dist="114300" dir="5100000" algn="ctr" rotWithShape="0">
              <a:srgbClr val="000000">
                <a:alpha val="67000"/>
              </a:srgbClr>
            </a:outerShdw>
          </a:effectLst>
        </p:spPr>
        <p:txBody>
          <a:bodyPr>
            <a:noAutofit/>
          </a:bodyPr>
          <a:lstStyle/>
          <a:p>
            <a:r>
              <a:rPr lang="en-US" b="1" dirty="0">
                <a:solidFill>
                  <a:schemeClr val="accent6">
                    <a:lumMod val="50000"/>
                  </a:schemeClr>
                </a:solidFill>
              </a:rPr>
              <a:t>WELCOME TO MY </a:t>
            </a:r>
            <a:br>
              <a:rPr lang="en-US" b="1" dirty="0">
                <a:solidFill>
                  <a:schemeClr val="accent6">
                    <a:lumMod val="50000"/>
                  </a:schemeClr>
                </a:solidFill>
              </a:rPr>
            </a:br>
            <a:r>
              <a:rPr lang="en-US" b="1" dirty="0">
                <a:solidFill>
                  <a:schemeClr val="accent6">
                    <a:lumMod val="50000"/>
                  </a:schemeClr>
                </a:solidFill>
              </a:rPr>
              <a:t>                     	PRESENTATION  </a:t>
            </a:r>
          </a:p>
        </p:txBody>
      </p:sp>
      <p:sp>
        <p:nvSpPr>
          <p:cNvPr id="3" name="Subtitle 2">
            <a:extLst>
              <a:ext uri="{FF2B5EF4-FFF2-40B4-BE49-F238E27FC236}">
                <a16:creationId xmlns:a16="http://schemas.microsoft.com/office/drawing/2014/main" id="{265463D7-1951-4AEF-84F3-80337AFA9554}"/>
              </a:ext>
            </a:extLst>
          </p:cNvPr>
          <p:cNvSpPr>
            <a:spLocks noGrp="1"/>
          </p:cNvSpPr>
          <p:nvPr>
            <p:ph type="subTitle" idx="1"/>
          </p:nvPr>
        </p:nvSpPr>
        <p:spPr>
          <a:xfrm>
            <a:off x="6632818" y="4729865"/>
            <a:ext cx="4795234" cy="1191297"/>
          </a:xfrm>
        </p:spPr>
        <p:txBody>
          <a:bodyPr>
            <a:normAutofit/>
          </a:bodyPr>
          <a:lstStyle/>
          <a:p>
            <a:r>
              <a:rPr lang="en-US" sz="2800" dirty="0">
                <a:solidFill>
                  <a:srgbClr val="C00000"/>
                </a:solidFill>
              </a:rPr>
              <a:t>Name: </a:t>
            </a:r>
            <a:r>
              <a:rPr lang="en-US" sz="2800" dirty="0" err="1">
                <a:solidFill>
                  <a:srgbClr val="C00000"/>
                </a:solidFill>
              </a:rPr>
              <a:t>Jannatul</a:t>
            </a:r>
            <a:r>
              <a:rPr lang="en-US" sz="2800" dirty="0">
                <a:solidFill>
                  <a:srgbClr val="C00000"/>
                </a:solidFill>
              </a:rPr>
              <a:t> </a:t>
            </a:r>
            <a:r>
              <a:rPr lang="en-US" sz="2800" dirty="0" err="1">
                <a:solidFill>
                  <a:srgbClr val="C00000"/>
                </a:solidFill>
              </a:rPr>
              <a:t>Mawa</a:t>
            </a:r>
            <a:endParaRPr lang="en-US" sz="2800" dirty="0">
              <a:solidFill>
                <a:srgbClr val="C00000"/>
              </a:solidFill>
            </a:endParaRPr>
          </a:p>
          <a:p>
            <a:r>
              <a:rPr lang="en-US" sz="2800" dirty="0">
                <a:solidFill>
                  <a:srgbClr val="C00000"/>
                </a:solidFill>
              </a:rPr>
              <a:t>Roll: 941451</a:t>
            </a:r>
          </a:p>
        </p:txBody>
      </p:sp>
    </p:spTree>
    <p:extLst>
      <p:ext uri="{BB962C8B-B14F-4D97-AF65-F5344CB8AC3E}">
        <p14:creationId xmlns:p14="http://schemas.microsoft.com/office/powerpoint/2010/main" val="29647491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FDE5-A2D5-4FEC-A924-AE6DD1026ABD}"/>
              </a:ext>
            </a:extLst>
          </p:cNvPr>
          <p:cNvSpPr>
            <a:spLocks noGrp="1"/>
          </p:cNvSpPr>
          <p:nvPr>
            <p:ph type="title"/>
          </p:nvPr>
        </p:nvSpPr>
        <p:spPr/>
        <p:txBody>
          <a:bodyPr/>
          <a:lstStyle/>
          <a:p>
            <a:pPr algn="ctr"/>
            <a:r>
              <a:rPr lang="en-US" b="1" dirty="0">
                <a:solidFill>
                  <a:schemeClr val="accent1">
                    <a:lumMod val="75000"/>
                  </a:schemeClr>
                </a:solidFill>
              </a:rPr>
              <a:t>Software Design Strategies</a:t>
            </a:r>
          </a:p>
        </p:txBody>
      </p:sp>
      <p:sp>
        <p:nvSpPr>
          <p:cNvPr id="3" name="Content Placeholder 2">
            <a:extLst>
              <a:ext uri="{FF2B5EF4-FFF2-40B4-BE49-F238E27FC236}">
                <a16:creationId xmlns:a16="http://schemas.microsoft.com/office/drawing/2014/main" id="{F23CF0B2-39A1-4D1C-B7A2-C72292BBF1F3}"/>
              </a:ext>
            </a:extLst>
          </p:cNvPr>
          <p:cNvSpPr>
            <a:spLocks noGrp="1"/>
          </p:cNvSpPr>
          <p:nvPr>
            <p:ph idx="1"/>
          </p:nvPr>
        </p:nvSpPr>
        <p:spPr>
          <a:xfrm>
            <a:off x="838200" y="2141537"/>
            <a:ext cx="10515600" cy="4351338"/>
          </a:xfrm>
        </p:spPr>
        <p:txBody>
          <a:bodyPr>
            <a:normAutofit/>
          </a:bodyPr>
          <a:lstStyle/>
          <a:p>
            <a:pPr marL="0" indent="0" algn="just">
              <a:lnSpc>
                <a:spcPct val="150000"/>
              </a:lnSpc>
              <a:buNone/>
            </a:pPr>
            <a:r>
              <a:rPr lang="en-GB" sz="2400" dirty="0"/>
              <a:t>Software design is a process to conceptualize the software requirements into software implementation. Software design takes the user requirements as challenges and tries to find optimum solution. While the software is being conceptualized, a plan is chalked out to find the best possible design for implementing the intended solution. </a:t>
            </a:r>
            <a:endParaRPr lang="en-US" sz="2400" dirty="0"/>
          </a:p>
        </p:txBody>
      </p:sp>
    </p:spTree>
    <p:extLst>
      <p:ext uri="{BB962C8B-B14F-4D97-AF65-F5344CB8AC3E}">
        <p14:creationId xmlns:p14="http://schemas.microsoft.com/office/powerpoint/2010/main" val="1208659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E0473-B06D-4A28-8A07-E708AE7E48DB}"/>
              </a:ext>
            </a:extLst>
          </p:cNvPr>
          <p:cNvSpPr>
            <a:spLocks noGrp="1"/>
          </p:cNvSpPr>
          <p:nvPr>
            <p:ph type="title"/>
          </p:nvPr>
        </p:nvSpPr>
        <p:spPr>
          <a:xfrm>
            <a:off x="838200" y="365125"/>
            <a:ext cx="10515600" cy="1193219"/>
          </a:xfrm>
        </p:spPr>
        <p:txBody>
          <a:bodyPr/>
          <a:lstStyle/>
          <a:p>
            <a:pPr algn="ctr"/>
            <a:r>
              <a:rPr lang="en-US" b="1" dirty="0">
                <a:solidFill>
                  <a:schemeClr val="accent1">
                    <a:lumMod val="75000"/>
                  </a:schemeClr>
                </a:solidFill>
              </a:rPr>
              <a:t>Structure Design</a:t>
            </a:r>
          </a:p>
        </p:txBody>
      </p:sp>
      <p:sp>
        <p:nvSpPr>
          <p:cNvPr id="3" name="Content Placeholder 2">
            <a:extLst>
              <a:ext uri="{FF2B5EF4-FFF2-40B4-BE49-F238E27FC236}">
                <a16:creationId xmlns:a16="http://schemas.microsoft.com/office/drawing/2014/main" id="{C42E1634-ADF5-4277-9C97-5501B67903D0}"/>
              </a:ext>
            </a:extLst>
          </p:cNvPr>
          <p:cNvSpPr>
            <a:spLocks noGrp="1"/>
          </p:cNvSpPr>
          <p:nvPr>
            <p:ph idx="1"/>
          </p:nvPr>
        </p:nvSpPr>
        <p:spPr/>
        <p:txBody>
          <a:bodyPr>
            <a:normAutofit/>
          </a:bodyPr>
          <a:lstStyle/>
          <a:p>
            <a:pPr marL="0" indent="0">
              <a:lnSpc>
                <a:spcPct val="150000"/>
              </a:lnSpc>
              <a:buNone/>
            </a:pPr>
            <a:r>
              <a:rPr lang="en-GB" sz="2400" dirty="0"/>
              <a:t>Structured design is a conceptualization of problem into several well-organized elements of solution. It is basically concerned with the solution design. Benefit of structured design is, it gives better understanding of how the problem is being solved. Structured design also makes it simpler for designer to concentrate on the problem more accurately. </a:t>
            </a:r>
            <a:endParaRPr lang="en-US" sz="2400" dirty="0"/>
          </a:p>
        </p:txBody>
      </p:sp>
    </p:spTree>
    <p:extLst>
      <p:ext uri="{BB962C8B-B14F-4D97-AF65-F5344CB8AC3E}">
        <p14:creationId xmlns:p14="http://schemas.microsoft.com/office/powerpoint/2010/main" val="2179406933"/>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FEAF-C30E-47A3-8C57-7646B7BE108E}"/>
              </a:ext>
            </a:extLst>
          </p:cNvPr>
          <p:cNvSpPr>
            <a:spLocks noGrp="1"/>
          </p:cNvSpPr>
          <p:nvPr>
            <p:ph type="title"/>
          </p:nvPr>
        </p:nvSpPr>
        <p:spPr>
          <a:xfrm>
            <a:off x="838200" y="1111348"/>
            <a:ext cx="10515599" cy="970270"/>
          </a:xfrm>
        </p:spPr>
        <p:txBody>
          <a:bodyPr>
            <a:normAutofit fontScale="90000"/>
          </a:bodyPr>
          <a:lstStyle/>
          <a:p>
            <a:pPr algn="ctr"/>
            <a:r>
              <a:rPr lang="en-US" sz="4900" b="1" dirty="0">
                <a:solidFill>
                  <a:schemeClr val="accent1">
                    <a:lumMod val="75000"/>
                  </a:schemeClr>
                </a:solidFill>
              </a:rPr>
              <a:t>Function Oriented Design</a:t>
            </a:r>
            <a:br>
              <a:rPr lang="en-US" b="1" dirty="0">
                <a:solidFill>
                  <a:schemeClr val="accent1">
                    <a:lumMod val="75000"/>
                  </a:schemeClr>
                </a:solidFill>
              </a:rPr>
            </a:br>
            <a:endParaRPr lang="en-US" dirty="0">
              <a:solidFill>
                <a:schemeClr val="accent1">
                  <a:lumMod val="75000"/>
                </a:schemeClr>
              </a:solidFill>
            </a:endParaRPr>
          </a:p>
        </p:txBody>
      </p:sp>
      <p:sp>
        <p:nvSpPr>
          <p:cNvPr id="3" name="Content Placeholder 2">
            <a:extLst>
              <a:ext uri="{FF2B5EF4-FFF2-40B4-BE49-F238E27FC236}">
                <a16:creationId xmlns:a16="http://schemas.microsoft.com/office/drawing/2014/main" id="{BF7C3927-2B4F-48CF-ADA6-7F132CD6EF8A}"/>
              </a:ext>
            </a:extLst>
          </p:cNvPr>
          <p:cNvSpPr>
            <a:spLocks noGrp="1"/>
          </p:cNvSpPr>
          <p:nvPr>
            <p:ph idx="1"/>
          </p:nvPr>
        </p:nvSpPr>
        <p:spPr>
          <a:xfrm>
            <a:off x="970670" y="2081618"/>
            <a:ext cx="10383129" cy="4080031"/>
          </a:xfrm>
        </p:spPr>
        <p:txBody>
          <a:bodyPr>
            <a:normAutofit/>
          </a:bodyPr>
          <a:lstStyle/>
          <a:p>
            <a:pPr marL="0" indent="0" algn="just">
              <a:lnSpc>
                <a:spcPct val="150000"/>
              </a:lnSpc>
              <a:buNone/>
            </a:pPr>
            <a:r>
              <a:rPr lang="en-GB" sz="2400" dirty="0"/>
              <a:t>In function-oriented design, the system is comprised of many smaller sub-systems known as functions. These functions are capable of performing significant task in the system. The system is considered as top view of all functions.</a:t>
            </a:r>
          </a:p>
          <a:p>
            <a:pPr marL="0" indent="0" algn="just">
              <a:lnSpc>
                <a:spcPct val="150000"/>
              </a:lnSpc>
              <a:buNone/>
            </a:pPr>
            <a:r>
              <a:rPr lang="en-GB" sz="2400" dirty="0"/>
              <a:t>Function oriented design inherits some properties of structured design where divide and conquer methodology is used.</a:t>
            </a:r>
            <a:endParaRPr lang="en-US" sz="2400" dirty="0"/>
          </a:p>
        </p:txBody>
      </p:sp>
    </p:spTree>
    <p:extLst>
      <p:ext uri="{BB962C8B-B14F-4D97-AF65-F5344CB8AC3E}">
        <p14:creationId xmlns:p14="http://schemas.microsoft.com/office/powerpoint/2010/main" val="41203750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2C67B8-0C52-4E44-AF76-6B45D7CE0E5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743" t="2129" r="1762" b="8279"/>
          <a:stretch/>
        </p:blipFill>
        <p:spPr>
          <a:xfrm>
            <a:off x="3083322" y="1192188"/>
            <a:ext cx="6025355" cy="4195737"/>
          </a:xfrm>
        </p:spPr>
      </p:pic>
    </p:spTree>
    <p:extLst>
      <p:ext uri="{BB962C8B-B14F-4D97-AF65-F5344CB8AC3E}">
        <p14:creationId xmlns:p14="http://schemas.microsoft.com/office/powerpoint/2010/main" val="2621655391"/>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5866-5F9A-4E1B-8575-3B4DB1EB5735}"/>
              </a:ext>
            </a:extLst>
          </p:cNvPr>
          <p:cNvSpPr>
            <a:spLocks noGrp="1"/>
          </p:cNvSpPr>
          <p:nvPr>
            <p:ph type="title"/>
          </p:nvPr>
        </p:nvSpPr>
        <p:spPr/>
        <p:txBody>
          <a:bodyPr/>
          <a:lstStyle/>
          <a:p>
            <a:pPr algn="ctr"/>
            <a:r>
              <a:rPr lang="en-US" b="1" dirty="0">
                <a:solidFill>
                  <a:schemeClr val="accent1">
                    <a:lumMod val="75000"/>
                  </a:schemeClr>
                </a:solidFill>
              </a:rPr>
              <a:t>Object Oriented Design</a:t>
            </a:r>
            <a:br>
              <a:rPr lang="en-US" b="1" dirty="0"/>
            </a:br>
            <a:endParaRPr lang="en-US" dirty="0"/>
          </a:p>
        </p:txBody>
      </p:sp>
      <p:sp>
        <p:nvSpPr>
          <p:cNvPr id="3" name="Content Placeholder 2">
            <a:extLst>
              <a:ext uri="{FF2B5EF4-FFF2-40B4-BE49-F238E27FC236}">
                <a16:creationId xmlns:a16="http://schemas.microsoft.com/office/drawing/2014/main" id="{DE5FFDD8-F5E9-4BEF-A6F9-51A4A6A3B5D1}"/>
              </a:ext>
            </a:extLst>
          </p:cNvPr>
          <p:cNvSpPr>
            <a:spLocks noGrp="1"/>
          </p:cNvSpPr>
          <p:nvPr>
            <p:ph idx="1"/>
          </p:nvPr>
        </p:nvSpPr>
        <p:spPr>
          <a:xfrm>
            <a:off x="838200" y="1249251"/>
            <a:ext cx="10739906" cy="5243624"/>
          </a:xfrm>
        </p:spPr>
        <p:txBody>
          <a:bodyPr>
            <a:normAutofit fontScale="85000" lnSpcReduction="10000"/>
          </a:bodyPr>
          <a:lstStyle/>
          <a:p>
            <a:pPr marL="0" indent="0" algn="just">
              <a:lnSpc>
                <a:spcPct val="160000"/>
              </a:lnSpc>
              <a:buNone/>
            </a:pPr>
            <a:r>
              <a:rPr lang="en-GB" sz="2400" dirty="0"/>
              <a:t>Object oriented design works around the entities and their characteristics instead of functions involved in the software system. This design strategies focuses on entities and its characteristics. The whole concept of software solution revolves around the engaged entities.</a:t>
            </a:r>
          </a:p>
          <a:p>
            <a:pPr marL="0" indent="0" algn="just">
              <a:lnSpc>
                <a:spcPct val="160000"/>
              </a:lnSpc>
              <a:buNone/>
            </a:pPr>
            <a:r>
              <a:rPr lang="en-GB" sz="2400" dirty="0"/>
              <a:t>Let us see the important concepts of Object Oriented Design:</a:t>
            </a:r>
          </a:p>
          <a:p>
            <a:pPr algn="just">
              <a:lnSpc>
                <a:spcPct val="160000"/>
              </a:lnSpc>
            </a:pPr>
            <a:r>
              <a:rPr lang="en-GB" sz="2400" dirty="0"/>
              <a:t>Object.</a:t>
            </a:r>
          </a:p>
          <a:p>
            <a:pPr algn="just">
              <a:lnSpc>
                <a:spcPct val="160000"/>
              </a:lnSpc>
            </a:pPr>
            <a:r>
              <a:rPr lang="en-GB" sz="2400" dirty="0"/>
              <a:t>Classes.</a:t>
            </a:r>
          </a:p>
          <a:p>
            <a:pPr algn="just">
              <a:lnSpc>
                <a:spcPct val="160000"/>
              </a:lnSpc>
            </a:pPr>
            <a:r>
              <a:rPr lang="en-GB" sz="2400" dirty="0"/>
              <a:t>Inheritance</a:t>
            </a:r>
          </a:p>
          <a:p>
            <a:pPr algn="just">
              <a:lnSpc>
                <a:spcPct val="160000"/>
              </a:lnSpc>
            </a:pPr>
            <a:r>
              <a:rPr lang="en-US" sz="2400" dirty="0"/>
              <a:t>Polymorphism</a:t>
            </a:r>
          </a:p>
          <a:p>
            <a:pPr algn="just">
              <a:lnSpc>
                <a:spcPct val="160000"/>
              </a:lnSpc>
            </a:pPr>
            <a:r>
              <a:rPr lang="en-US" sz="2400" dirty="0"/>
              <a:t>Encapsulation</a:t>
            </a:r>
          </a:p>
        </p:txBody>
      </p:sp>
    </p:spTree>
    <p:extLst>
      <p:ext uri="{BB962C8B-B14F-4D97-AF65-F5344CB8AC3E}">
        <p14:creationId xmlns:p14="http://schemas.microsoft.com/office/powerpoint/2010/main" val="179044725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24A064-8B3C-4AF5-9979-A59BFD02CA9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 r="1589" b="5895"/>
          <a:stretch/>
        </p:blipFill>
        <p:spPr>
          <a:xfrm>
            <a:off x="2754237" y="1168755"/>
            <a:ext cx="6296551" cy="4520490"/>
          </a:xfrm>
        </p:spPr>
      </p:pic>
    </p:spTree>
    <p:extLst>
      <p:ext uri="{BB962C8B-B14F-4D97-AF65-F5344CB8AC3E}">
        <p14:creationId xmlns:p14="http://schemas.microsoft.com/office/powerpoint/2010/main" val="313784772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2F83-91DC-4DB2-BE87-0A39A086CE65}"/>
              </a:ext>
            </a:extLst>
          </p:cNvPr>
          <p:cNvSpPr>
            <a:spLocks noGrp="1"/>
          </p:cNvSpPr>
          <p:nvPr>
            <p:ph type="title"/>
          </p:nvPr>
        </p:nvSpPr>
        <p:spPr/>
        <p:txBody>
          <a:bodyPr/>
          <a:lstStyle/>
          <a:p>
            <a:pPr algn="ctr"/>
            <a:r>
              <a:rPr lang="en-US" b="1" dirty="0">
                <a:solidFill>
                  <a:schemeClr val="accent1">
                    <a:lumMod val="75000"/>
                  </a:schemeClr>
                </a:solidFill>
              </a:rPr>
              <a:t>Software Design Patterns</a:t>
            </a:r>
          </a:p>
        </p:txBody>
      </p:sp>
      <p:sp>
        <p:nvSpPr>
          <p:cNvPr id="3" name="Content Placeholder 2">
            <a:extLst>
              <a:ext uri="{FF2B5EF4-FFF2-40B4-BE49-F238E27FC236}">
                <a16:creationId xmlns:a16="http://schemas.microsoft.com/office/drawing/2014/main" id="{8593667E-5D84-4E09-A566-E08F51F450CE}"/>
              </a:ext>
            </a:extLst>
          </p:cNvPr>
          <p:cNvSpPr>
            <a:spLocks noGrp="1"/>
          </p:cNvSpPr>
          <p:nvPr>
            <p:ph idx="1"/>
          </p:nvPr>
        </p:nvSpPr>
        <p:spPr>
          <a:xfrm>
            <a:off x="838200" y="1616970"/>
            <a:ext cx="10515600" cy="4858510"/>
          </a:xfrm>
        </p:spPr>
        <p:txBody>
          <a:bodyPr>
            <a:normAutofit fontScale="92500" lnSpcReduction="10000"/>
          </a:bodyPr>
          <a:lstStyle/>
          <a:p>
            <a:pPr marL="0" indent="0" algn="just">
              <a:lnSpc>
                <a:spcPct val="150000"/>
              </a:lnSpc>
              <a:buNone/>
            </a:pPr>
            <a:r>
              <a:rPr lang="en-GB" sz="2400" dirty="0"/>
              <a:t>Software design process can be perceived as series of well-defined steps. Though it varies according to design approach (function oriented or object oriented, yet It may have the following steps involved:</a:t>
            </a:r>
          </a:p>
          <a:p>
            <a:pPr algn="just">
              <a:lnSpc>
                <a:spcPct val="150000"/>
              </a:lnSpc>
            </a:pPr>
            <a:r>
              <a:rPr lang="en-GB" sz="2400" dirty="0"/>
              <a:t>A solution design is created from requirement or previous used system and/or system sequence diagram.</a:t>
            </a:r>
          </a:p>
          <a:p>
            <a:pPr algn="just">
              <a:lnSpc>
                <a:spcPct val="150000"/>
              </a:lnSpc>
            </a:pPr>
            <a:r>
              <a:rPr lang="en-GB" sz="2400" dirty="0"/>
              <a:t>Objects are identified and grouped into classes on behalf of similarity in attribute characteristics.</a:t>
            </a:r>
          </a:p>
          <a:p>
            <a:pPr algn="just">
              <a:lnSpc>
                <a:spcPct val="150000"/>
              </a:lnSpc>
            </a:pPr>
            <a:r>
              <a:rPr lang="en-GB" sz="2400" dirty="0"/>
              <a:t>Class hierarchy and relation among them is defined.</a:t>
            </a:r>
          </a:p>
          <a:p>
            <a:pPr algn="just">
              <a:lnSpc>
                <a:spcPct val="150000"/>
              </a:lnSpc>
            </a:pPr>
            <a:r>
              <a:rPr lang="en-GB" sz="2400" dirty="0"/>
              <a:t>Application framework is defined.</a:t>
            </a:r>
          </a:p>
          <a:p>
            <a:endParaRPr lang="en-US" dirty="0"/>
          </a:p>
        </p:txBody>
      </p:sp>
    </p:spTree>
    <p:extLst>
      <p:ext uri="{BB962C8B-B14F-4D97-AF65-F5344CB8AC3E}">
        <p14:creationId xmlns:p14="http://schemas.microsoft.com/office/powerpoint/2010/main" val="227550156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9E40-A7E4-42B8-B9DD-984C1404393B}"/>
              </a:ext>
            </a:extLst>
          </p:cNvPr>
          <p:cNvSpPr>
            <a:spLocks noGrp="1"/>
          </p:cNvSpPr>
          <p:nvPr>
            <p:ph type="title"/>
          </p:nvPr>
        </p:nvSpPr>
        <p:spPr/>
        <p:txBody>
          <a:bodyPr/>
          <a:lstStyle/>
          <a:p>
            <a:pPr algn="ctr"/>
            <a:r>
              <a:rPr lang="en-US" b="1" dirty="0">
                <a:solidFill>
                  <a:schemeClr val="accent1">
                    <a:lumMod val="75000"/>
                  </a:schemeClr>
                </a:solidFill>
              </a:rPr>
              <a:t>Software Design Approaches</a:t>
            </a:r>
            <a:br>
              <a:rPr lang="en-US" b="1" dirty="0"/>
            </a:br>
            <a:endParaRPr lang="en-US" dirty="0"/>
          </a:p>
        </p:txBody>
      </p:sp>
      <p:sp>
        <p:nvSpPr>
          <p:cNvPr id="3" name="Content Placeholder 2">
            <a:extLst>
              <a:ext uri="{FF2B5EF4-FFF2-40B4-BE49-F238E27FC236}">
                <a16:creationId xmlns:a16="http://schemas.microsoft.com/office/drawing/2014/main" id="{F83D6CF8-4A22-4999-9919-EEC0E34DD21F}"/>
              </a:ext>
            </a:extLst>
          </p:cNvPr>
          <p:cNvSpPr>
            <a:spLocks noGrp="1"/>
          </p:cNvSpPr>
          <p:nvPr>
            <p:ph idx="1"/>
          </p:nvPr>
        </p:nvSpPr>
        <p:spPr>
          <a:xfrm>
            <a:off x="838200" y="1365161"/>
            <a:ext cx="10515600" cy="4984124"/>
          </a:xfrm>
        </p:spPr>
        <p:txBody>
          <a:bodyPr>
            <a:normAutofit fontScale="92500"/>
          </a:bodyPr>
          <a:lstStyle/>
          <a:p>
            <a:pPr marL="0" indent="0">
              <a:buNone/>
            </a:pPr>
            <a:r>
              <a:rPr lang="en-GB" sz="2400" dirty="0"/>
              <a:t>Here are two generic approaches for software designing:</a:t>
            </a:r>
          </a:p>
          <a:p>
            <a:pPr marL="0" indent="0">
              <a:buNone/>
            </a:pPr>
            <a:endParaRPr lang="en-GB" sz="2400" dirty="0"/>
          </a:p>
          <a:p>
            <a:r>
              <a:rPr lang="en-GB" sz="2400" b="1" dirty="0">
                <a:solidFill>
                  <a:schemeClr val="accent6">
                    <a:lumMod val="75000"/>
                  </a:schemeClr>
                </a:solidFill>
              </a:rPr>
              <a:t>Top Down Design</a:t>
            </a:r>
          </a:p>
          <a:p>
            <a:pPr marL="0" indent="0">
              <a:lnSpc>
                <a:spcPct val="150000"/>
              </a:lnSpc>
              <a:buNone/>
            </a:pPr>
            <a:r>
              <a:rPr lang="en-GB" sz="2400" dirty="0"/>
              <a:t>We know that a system is composed of more than one sub-systems and it contains a number of components. Further, these sub-systems and components may have their on set of sub-system and components and creates hierarchical structure in the system.</a:t>
            </a:r>
          </a:p>
          <a:p>
            <a:pPr marL="0" indent="0">
              <a:lnSpc>
                <a:spcPct val="150000"/>
              </a:lnSpc>
              <a:buNone/>
            </a:pPr>
            <a:r>
              <a:rPr lang="en-GB" sz="2400" dirty="0"/>
              <a:t>Top-down design takes the whole software system as one entity and then decomposes it to achieve more than one sub-system or component based on some characteristics.</a:t>
            </a:r>
            <a:endParaRPr lang="en-US" sz="2400" dirty="0"/>
          </a:p>
        </p:txBody>
      </p:sp>
    </p:spTree>
    <p:extLst>
      <p:ext uri="{BB962C8B-B14F-4D97-AF65-F5344CB8AC3E}">
        <p14:creationId xmlns:p14="http://schemas.microsoft.com/office/powerpoint/2010/main" val="30100553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2FB86-FA10-4CC2-8A46-8F96F007305B}"/>
              </a:ext>
            </a:extLst>
          </p:cNvPr>
          <p:cNvSpPr>
            <a:spLocks noGrp="1"/>
          </p:cNvSpPr>
          <p:nvPr>
            <p:ph idx="1"/>
          </p:nvPr>
        </p:nvSpPr>
        <p:spPr>
          <a:xfrm>
            <a:off x="824248" y="592428"/>
            <a:ext cx="10529552" cy="5584535"/>
          </a:xfrm>
        </p:spPr>
        <p:txBody>
          <a:bodyPr>
            <a:normAutofit/>
          </a:bodyPr>
          <a:lstStyle/>
          <a:p>
            <a:pPr>
              <a:lnSpc>
                <a:spcPct val="150000"/>
              </a:lnSpc>
            </a:pPr>
            <a:r>
              <a:rPr lang="en-GB" b="1" dirty="0">
                <a:solidFill>
                  <a:schemeClr val="accent6">
                    <a:lumMod val="75000"/>
                  </a:schemeClr>
                </a:solidFill>
              </a:rPr>
              <a:t>Bottom-up Design</a:t>
            </a:r>
          </a:p>
          <a:p>
            <a:pPr marL="0" indent="0">
              <a:lnSpc>
                <a:spcPct val="150000"/>
              </a:lnSpc>
              <a:buNone/>
            </a:pPr>
            <a:r>
              <a:rPr lang="en-GB" sz="2200" dirty="0"/>
              <a:t>The bottom up design model starts with most specific and basic components. It proceeds with composing higher level of components by using basic or lower level components. It keeps creating higher level components until the desired system is not evolved as one single component. With each higher level, the amount of abstraction is increased.</a:t>
            </a:r>
          </a:p>
          <a:p>
            <a:pPr marL="0" indent="0">
              <a:lnSpc>
                <a:spcPct val="150000"/>
              </a:lnSpc>
              <a:buNone/>
            </a:pPr>
            <a:r>
              <a:rPr lang="en-GB" sz="2200" dirty="0"/>
              <a:t>Bottom-up strategy is more suitable when a system needs to be created from some existing system, where the basic primitives can be used in the newer system.</a:t>
            </a:r>
          </a:p>
          <a:p>
            <a:endParaRPr lang="en-US" dirty="0"/>
          </a:p>
        </p:txBody>
      </p:sp>
    </p:spTree>
    <p:extLst>
      <p:ext uri="{BB962C8B-B14F-4D97-AF65-F5344CB8AC3E}">
        <p14:creationId xmlns:p14="http://schemas.microsoft.com/office/powerpoint/2010/main" val="362998832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F53736F-7DCD-4FB1-BD1A-784D45CE0F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6636" y="1774362"/>
            <a:ext cx="8038727" cy="3309276"/>
          </a:xfrm>
        </p:spPr>
      </p:pic>
    </p:spTree>
    <p:extLst>
      <p:ext uri="{BB962C8B-B14F-4D97-AF65-F5344CB8AC3E}">
        <p14:creationId xmlns:p14="http://schemas.microsoft.com/office/powerpoint/2010/main" val="352290843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9A13-B4DF-474C-B6C7-6B34D3774830}"/>
              </a:ext>
            </a:extLst>
          </p:cNvPr>
          <p:cNvSpPr>
            <a:spLocks noGrp="1"/>
          </p:cNvSpPr>
          <p:nvPr>
            <p:ph type="title"/>
          </p:nvPr>
        </p:nvSpPr>
        <p:spPr>
          <a:xfrm>
            <a:off x="2432824" y="2741767"/>
            <a:ext cx="7882054" cy="1374465"/>
          </a:xfrm>
          <a:noFill/>
          <a:effectLst>
            <a:glow rad="1574800">
              <a:schemeClr val="accent3">
                <a:satMod val="175000"/>
                <a:alpha val="74000"/>
              </a:schemeClr>
            </a:glow>
            <a:outerShdw dist="38100" sx="15000" sy="15000" algn="t" rotWithShape="0">
              <a:prstClr val="black"/>
            </a:outerShdw>
            <a:reflection blurRad="127000" stA="82000" endPos="77000" dir="5400000" sy="-100000" algn="bl" rotWithShape="0"/>
          </a:effectLst>
        </p:spPr>
        <p:txBody>
          <a:bodyPr>
            <a:normAutofit/>
          </a:bodyPr>
          <a:lstStyle/>
          <a:p>
            <a:r>
              <a:rPr lang="en-US" sz="7200" b="1" dirty="0">
                <a:solidFill>
                  <a:srgbClr val="C00000"/>
                </a:solidFill>
              </a:rPr>
              <a:t>Thanks For Watching</a:t>
            </a:r>
          </a:p>
        </p:txBody>
      </p:sp>
    </p:spTree>
    <p:extLst>
      <p:ext uri="{BB962C8B-B14F-4D97-AF65-F5344CB8AC3E}">
        <p14:creationId xmlns:p14="http://schemas.microsoft.com/office/powerpoint/2010/main" val="4287997726"/>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516</Words>
  <Application>Microsoft Office PowerPoint</Application>
  <PresentationFormat>Widescreen</PresentationFormat>
  <Paragraphs>34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WELCOME TO MY                        PRESENTATION  </vt:lpstr>
      <vt:lpstr>Software Design Strategies</vt:lpstr>
      <vt:lpstr>Structure Design</vt:lpstr>
      <vt:lpstr>Function Oriented Design </vt:lpstr>
      <vt:lpstr>PowerPoint Presentation</vt:lpstr>
      <vt:lpstr>Object Oriented Design </vt:lpstr>
      <vt:lpstr>PowerPoint Presentation</vt:lpstr>
      <vt:lpstr>Software Design Patterns</vt:lpstr>
      <vt:lpstr>Software Design Approaches </vt:lpstr>
      <vt:lpstr>PowerPoint Presentation</vt:lpstr>
      <vt:lpstr>PowerPoint Presentation</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MY PRESENTATION</dc:title>
  <dc:creator>HP-NPC</dc:creator>
  <cp:lastModifiedBy>HP-NPC</cp:lastModifiedBy>
  <cp:revision>8</cp:revision>
  <dcterms:created xsi:type="dcterms:W3CDTF">2020-02-18T09:12:12Z</dcterms:created>
  <dcterms:modified xsi:type="dcterms:W3CDTF">2020-02-18T10:22:43Z</dcterms:modified>
</cp:coreProperties>
</file>